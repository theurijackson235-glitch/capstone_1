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415A7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754880"/>
            <a:ext cx="4114800" cy="4114800"/>
          </a:xfrm>
          <a:prstGeom prst="ellipse">
            <a:avLst/>
          </a:prstGeom>
          <a:solidFill>
            <a:srgbClr val="FCA31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CAPSTONE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Accident Severity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Happens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weather, time, location and road features to help traffic safety agencies anticipate severe crashes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1750">
            <a:solidFill>
              <a:srgbClr val="FCA3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37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Theuri Mururi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Methodology  •  500,000-Record Sample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accidents strain emergency services and transport agencies. Knowing which conditions tend to produce severe crashes lets stakeholders prioritize before, not after, the fact.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868680" cy="86868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57400"/>
            <a:ext cx="1143000" cy="8686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228600" y="301752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Departments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Transportation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2057400"/>
            <a:ext cx="868680" cy="86868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057400"/>
            <a:ext cx="1143000" cy="8686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TSA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2103120" y="301752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Safety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868680" cy="86868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2057400"/>
            <a:ext cx="1143000" cy="8686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3977640" y="301752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Centers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828800"/>
            <a:ext cx="47548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8A93A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2376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Guiding Questions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2376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35240" y="249631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weather conditions are associated with severe accidents?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22376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35240" y="327355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accident severity change during the day?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22376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35240" y="405079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experience the largest number of severe crashes?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2376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35240" y="482803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road features appear most in serious accidents?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CRISP-DM — Business Understanding → Data Understanding → Preparation → Modelling → Evaluation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sample drawn from the US Accidents (2016–2023) database, cleaned and enriched before any analysis began.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21031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15A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→ 51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→ Engineered Columns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1031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Represented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9202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21031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15A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Missing Weather Data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created before analysis: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89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40280" y="438912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2240280" y="4389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31920" y="438912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0" y="4389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438912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4389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438912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4389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Night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120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derived only from information available before or at the moment of the crash — no lookahead into outcomes that happen afterward.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Heavily Imbalanced Target</a:t>
            </a:r>
            <a:endParaRPr lang="en-US" sz="3200" dirty="0"/>
          </a:p>
        </p:txBody>
      </p:sp>
      <p:pic>
        <p:nvPicPr>
          <p:cNvPr id="3" name="Image 0" descr="/home/claude/charts/severity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922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23760" y="1280160"/>
            <a:ext cx="4434840" cy="4297680"/>
          </a:xfrm>
          <a:prstGeom prst="roundRect">
            <a:avLst>
              <a:gd name="adj" fmla="val 2553"/>
            </a:avLst>
          </a:prstGeom>
          <a:solidFill>
            <a:srgbClr val="14213D"/>
          </a:solidFill>
          <a:ln/>
        </p:spPr>
      </p:sp>
      <p:sp>
        <p:nvSpPr>
          <p:cNvPr id="5" name="Text 2"/>
          <p:cNvSpPr/>
          <p:nvPr/>
        </p:nvSpPr>
        <p:spPr>
          <a:xfrm>
            <a:off x="7498080" y="155448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79.6%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accidents are rated Severity 2 — a “moderate” crash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98080" y="3200400"/>
            <a:ext cx="388620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34290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2.6% of accidents reach Severity 4 — but these are exactly the ones emergency planning cares most about.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0" y="4480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Phase 2: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0" y="48006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could reach ~80% accuracy just by always guessing “Severity 2” — and still be operationally useless. This is why accuracy alone can't be trusted here.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 Accidents Happen?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Rush-hour periods stand out clearly — busier roads mean more opportunities for collisions.</a:t>
            </a:r>
            <a:endParaRPr lang="en-US" sz="1450" dirty="0"/>
          </a:p>
        </p:txBody>
      </p:sp>
      <p:pic>
        <p:nvPicPr>
          <p:cNvPr id="4" name="Image 0" descr="/home/claude/charts/hou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795528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737360"/>
            <a:ext cx="2971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0" y="18745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7–8 AM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823960" y="242316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peak: ~38,000 accidents each hour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686800" y="3794760"/>
            <a:ext cx="2971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0" y="3931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4–5 PM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823960" y="448056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peak: ~37,000 accidents each hour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They Concentrate?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states consistently record far higher accident volumes than others — a case for location-specific, not one-size-fits-all, interventions.</a:t>
            </a:r>
            <a:endParaRPr lang="en-US" sz="1450" dirty="0"/>
          </a:p>
        </p:txBody>
      </p:sp>
      <p:pic>
        <p:nvPicPr>
          <p:cNvPr id="4" name="Image 0" descr="/home/claude/charts/top_st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91640"/>
            <a:ext cx="81381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64040" y="23774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/>
        </p:spPr>
      </p:sp>
      <p:sp>
        <p:nvSpPr>
          <p:cNvPr id="6" name="Text 3"/>
          <p:cNvSpPr/>
          <p:nvPr/>
        </p:nvSpPr>
        <p:spPr>
          <a:xfrm>
            <a:off x="946404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46404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113,274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0120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— more than double the next state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Weather's Role in Severity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Counter-intuitively, calmer-sounding conditions carry the highest share of severe crashes — likely because they coincide with higher speeds and less caution.</a:t>
            </a:r>
            <a:endParaRPr lang="en-US" sz="1350" dirty="0"/>
          </a:p>
        </p:txBody>
      </p:sp>
      <p:pic>
        <p:nvPicPr>
          <p:cNvPr id="4" name="Image 0" descr="/home/claude/charts/weather_sev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69494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82880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2057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 × Severity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46720" y="3108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 = 22,454.97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0" y="3429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46720" y="3931920"/>
            <a:ext cx="338328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0" y="4069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Test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across Severity groups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046720" y="4617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38.5   |   p &lt; 0.001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46720" y="5074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relationships are statistically significant — weather and visibility are genuinely linked to severity, not coincidence.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Prediction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showed that weather, time and location relate to severity. Phase 2 tests whether they can predict it for a new accident.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4434840"/>
          </a:xfrm>
          <a:prstGeom prst="roundRect">
            <a:avLst>
              <a:gd name="adj" fmla="val 324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Multi-class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Severity (1–4)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Weighted F1-score, chosen specifically because accuracy would reward always predicting the majority class (Severity 2).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24871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Temperature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34840" y="27843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Visibility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34840" y="3081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Humidity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34840" y="33787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Wind Speed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34840" y="3675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Weather Condition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34840" y="39730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34840" y="42702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Hour &amp; Month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34840" y="45674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Traffic Signal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34840" y="4864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Junction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34840" y="5271516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every one is known before or during the crash — no leakage from after-the-fact information.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01000" y="1920240"/>
            <a:ext cx="3611880" cy="4434840"/>
          </a:xfrm>
          <a:prstGeom prst="roundRect">
            <a:avLst>
              <a:gd name="adj" fmla="val 3038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75320" y="2560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75320" y="28529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preprocessing is fit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75320" y="36758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median-imputed, then scaled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75320" y="4498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most-frequent imputed, one-hot encoded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5320" y="5029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compared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75320" y="53218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vs. Random Forest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Baseline Trap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never predicts a severe crash can still look strong on paper. This is exactly why Weighted F1 alone isn't enough.</a:t>
            </a:r>
            <a:endParaRPr lang="en-US" sz="1400" dirty="0"/>
          </a:p>
        </p:txBody>
      </p:sp>
      <p:pic>
        <p:nvPicPr>
          <p:cNvPr id="4" name="Image 0" descr="/home/claude/charts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758952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828800"/>
            <a:ext cx="3154680" cy="4160520"/>
          </a:xfrm>
          <a:prstGeom prst="roundRect">
            <a:avLst>
              <a:gd name="adj" fmla="val 3478"/>
            </a:avLst>
          </a:prstGeom>
          <a:solidFill>
            <a:srgbClr val="14213D"/>
          </a:solidFill>
          <a:ln/>
        </p:spPr>
      </p:sp>
      <p:sp>
        <p:nvSpPr>
          <p:cNvPr id="6" name="Text 3"/>
          <p:cNvSpPr/>
          <p:nvPr/>
        </p:nvSpPr>
        <p:spPr>
          <a:xfrm>
            <a:off x="873252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732520" y="26060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severe crashes (Sev. 3 &amp; 4) caught by the majority baseline — despite its high Weighted F1 of 0.706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732520" y="3703320"/>
            <a:ext cx="274320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32520" y="3840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42–49%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732520" y="4389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severe crashes caught by the Logistic Regression and Random Forest models — a real, usable signal the baseline completely misses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lets us look inside the model. Time-based and weather features dominate over any single state or road feature.</a:t>
            </a:r>
            <a:endParaRPr lang="en-US" sz="1400" dirty="0"/>
          </a:p>
        </p:txBody>
      </p:sp>
      <p:pic>
        <p:nvPicPr>
          <p:cNvPr id="4" name="Image 0" descr="/home/claude/chart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76809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78240" y="2011680"/>
            <a:ext cx="2834640" cy="3840480"/>
          </a:xfrm>
          <a:prstGeom prst="roundRect">
            <a:avLst>
              <a:gd name="adj" fmla="val 3871"/>
            </a:avLst>
          </a:prstGeom>
          <a:solidFill>
            <a:srgbClr val="F8F9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06840" y="2240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00684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and Hour together outrank any single weather category — timing matters as much as conditions.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006840" y="3749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presence is the top road-feature signal, ahead of state identity.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006840" y="4709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dominates — severity is genuinely multi-factor.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a decision-support tool — not a replacement for human judgment — this model can plug into real workflows.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103120"/>
            <a:ext cx="1005840" cy="7315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228600" y="2971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Dispatch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" y="356616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likely-severe incidents so emergency response can be positioned faster.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21031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2103120"/>
            <a:ext cx="1005840" cy="7315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2926080" y="2971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Warnings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0" y="356616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high-risk weather + time combinations to drivers before conditions worsen.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2103120"/>
            <a:ext cx="1005840" cy="7315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5623560" y="2971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Resources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40680" y="356616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staffing and equipment with peak-risk hours identified in the data.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41080" y="21031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103120"/>
            <a:ext cx="1005840" cy="7315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8321040" y="2971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Locations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38160" y="356616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infrastructure investment toward the states and corridors carrying the heaviest load.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760720"/>
            <a:ext cx="1106424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model should be treated as a decision-support tool rather than an automatic decision-maker.”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12264"/>
            <a:ext cx="91440" cy="9144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659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classes are heavily imbalanced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91440" cy="9144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517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weather variables contain missing values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483864"/>
            <a:ext cx="91440" cy="9144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3375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sampled dataset may not fully represent the national picture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169664"/>
            <a:ext cx="91440" cy="9144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0233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association is not proof of causation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855464"/>
            <a:ext cx="91440" cy="9144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7091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context: traffic density, road geometry, driver behavior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12801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14213D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057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Tableau Dashboard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Phase 1's insights out of the notebook so DOTs and response centers can filter by state, weather and time themselves.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3246120"/>
            <a:ext cx="493776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4290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Text Classification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46520" y="37490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record includes a free-text accident Description. Phase 3 will test whether the narrative alone can predict severity, evaluated with Accuracy, Precision, Recall and F1-score.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4892040"/>
            <a:ext cx="493776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5029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 three phases move from understanding → predicting → explaining in natural language.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415A7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FCA31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31750">
            <a:solidFill>
              <a:srgbClr val="FCA3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Theuri Mururi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Capstone  •  CRISP-DM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2026-09-17T08:16:56Z</dcterms:created>
  <dcterms:modified xsi:type="dcterms:W3CDTF">2026-09-17T08:16:56Z</dcterms:modified>
</cp:coreProperties>
</file>